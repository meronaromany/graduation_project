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Montserrat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4CBB3C-4B7B-402B-A6EE-557A08AFDFCF}">
  <a:tblStyle styleId="{754CBB3C-4B7B-402B-A6EE-557A08AFDF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c760b74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dc760b740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dc760b740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dc760b740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c760b740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dc760b740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dc760b740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dc760b740_2_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dc760b740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dc760b740_2_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dc760b740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dc760b740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dc760b740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dc760b740_2_1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dc760b740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dc760b740_2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dc760b740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dc760b740_2_1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dc760b740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dc760b740_2_2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dc760b740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dc760b740_2_2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dc760b740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dc760b740_2_2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dc760b740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dc760b740_2_2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dc760b740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dc760b740_2_2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dc760b740_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edc760b740_2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dc760b740_2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dc760b740_2_2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dc760b740_2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dc760b740_2_2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dc760b740_2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dc760b740_2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dc760b740_2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dc760b740_2_2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dc760b7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dc760b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dc760b740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dc760b740_2_3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dc760b740_2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edc760b740_2_3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dc760b740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dc760b740_2_3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0.jp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hyperlink" Target="https://www.kaggle.com/datasets/awsaf49/ljspeech-sr16k-datase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TxLYk-HjUFfssOOs1HusutFENn42E6uc/view" TargetMode="External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7889919" y="142684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0"/>
                </a:lnTo>
                <a:lnTo>
                  <a:pt x="0" y="10545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1484321" y="832561"/>
            <a:ext cx="6057303" cy="448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The Effeciant way to learn English</a:t>
            </a:r>
            <a:endParaRPr sz="700"/>
          </a:p>
        </p:txBody>
      </p:sp>
      <p:sp>
        <p:nvSpPr>
          <p:cNvPr id="131" name="Google Shape;131;p25"/>
          <p:cNvSpPr txBox="1"/>
          <p:nvPr/>
        </p:nvSpPr>
        <p:spPr>
          <a:xfrm>
            <a:off x="1335769" y="344411"/>
            <a:ext cx="6472461" cy="53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1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AI LEANRNING LANGAUAGE APP </a:t>
            </a:r>
            <a:endParaRPr sz="700"/>
          </a:p>
        </p:txBody>
      </p:sp>
      <p:sp>
        <p:nvSpPr>
          <p:cNvPr id="132" name="Google Shape;132;p25"/>
          <p:cNvSpPr txBox="1"/>
          <p:nvPr/>
        </p:nvSpPr>
        <p:spPr>
          <a:xfrm>
            <a:off x="7650323" y="794206"/>
            <a:ext cx="979327" cy="234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(LINGOOSE)</a:t>
            </a:r>
            <a:endParaRPr sz="700"/>
          </a:p>
        </p:txBody>
      </p:sp>
      <p:sp>
        <p:nvSpPr>
          <p:cNvPr id="133" name="Google Shape;133;p25"/>
          <p:cNvSpPr txBox="1"/>
          <p:nvPr/>
        </p:nvSpPr>
        <p:spPr>
          <a:xfrm>
            <a:off x="4238177" y="1388001"/>
            <a:ext cx="549593" cy="443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BY: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1285382" y="1995714"/>
            <a:ext cx="1514029" cy="34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 Maher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3528830" y="1993474"/>
            <a:ext cx="1877021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Kerolos Rafat </a:t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1285382" y="3246604"/>
            <a:ext cx="1744742" cy="34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Kerolos Said </a:t>
            </a:r>
            <a:endParaRPr sz="700"/>
          </a:p>
        </p:txBody>
      </p:sp>
      <p:sp>
        <p:nvSpPr>
          <p:cNvPr id="137" name="Google Shape;137;p25"/>
          <p:cNvSpPr txBox="1"/>
          <p:nvPr/>
        </p:nvSpPr>
        <p:spPr>
          <a:xfrm>
            <a:off x="5978319" y="2600325"/>
            <a:ext cx="2264212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Ahmed Mansour </a:t>
            </a:r>
            <a:endParaRPr sz="700"/>
          </a:p>
        </p:txBody>
      </p:sp>
      <p:sp>
        <p:nvSpPr>
          <p:cNvPr id="138" name="Google Shape;138;p25"/>
          <p:cNvSpPr txBox="1"/>
          <p:nvPr/>
        </p:nvSpPr>
        <p:spPr>
          <a:xfrm>
            <a:off x="1285382" y="2600325"/>
            <a:ext cx="1544717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Engy Emad </a:t>
            </a:r>
            <a:endParaRPr sz="700"/>
          </a:p>
        </p:txBody>
      </p:sp>
      <p:sp>
        <p:nvSpPr>
          <p:cNvPr id="139" name="Google Shape;139;p25"/>
          <p:cNvSpPr txBox="1"/>
          <p:nvPr/>
        </p:nvSpPr>
        <p:spPr>
          <a:xfrm>
            <a:off x="5978319" y="2014220"/>
            <a:ext cx="1938040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Boules Ashraf </a:t>
            </a:r>
            <a:endParaRPr sz="700"/>
          </a:p>
        </p:txBody>
      </p:sp>
      <p:sp>
        <p:nvSpPr>
          <p:cNvPr id="140" name="Google Shape;140;p25"/>
          <p:cNvSpPr txBox="1"/>
          <p:nvPr/>
        </p:nvSpPr>
        <p:spPr>
          <a:xfrm>
            <a:off x="3532612" y="2600325"/>
            <a:ext cx="1743194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Afraym Herz </a:t>
            </a:r>
            <a:endParaRPr sz="700"/>
          </a:p>
        </p:txBody>
      </p:sp>
      <p:sp>
        <p:nvSpPr>
          <p:cNvPr id="141" name="Google Shape;141;p25"/>
          <p:cNvSpPr txBox="1"/>
          <p:nvPr/>
        </p:nvSpPr>
        <p:spPr>
          <a:xfrm>
            <a:off x="5978319" y="3246604"/>
            <a:ext cx="2249627" cy="34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Merona Romany </a:t>
            </a:r>
            <a:endParaRPr sz="700"/>
          </a:p>
        </p:txBody>
      </p:sp>
      <p:sp>
        <p:nvSpPr>
          <p:cNvPr id="142" name="Google Shape;142;p25"/>
          <p:cNvSpPr txBox="1"/>
          <p:nvPr/>
        </p:nvSpPr>
        <p:spPr>
          <a:xfrm>
            <a:off x="3383948" y="3981441"/>
            <a:ext cx="2376105" cy="3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89D91"/>
                </a:solidFill>
                <a:latin typeface="Arial"/>
                <a:ea typeface="Arial"/>
                <a:cs typeface="Arial"/>
                <a:sym typeface="Arial"/>
              </a:rPr>
              <a:t>Supervision of</a:t>
            </a:r>
            <a:endParaRPr sz="700"/>
          </a:p>
        </p:txBody>
      </p:sp>
      <p:sp>
        <p:nvSpPr>
          <p:cNvPr id="143" name="Google Shape;143;p25"/>
          <p:cNvSpPr txBox="1"/>
          <p:nvPr/>
        </p:nvSpPr>
        <p:spPr>
          <a:xfrm>
            <a:off x="1476674" y="4457691"/>
            <a:ext cx="2256532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800AD"/>
                </a:solidFill>
                <a:latin typeface="Arial"/>
                <a:ea typeface="Arial"/>
                <a:cs typeface="Arial"/>
                <a:sym typeface="Arial"/>
              </a:rPr>
              <a:t>Dr. Eman Hossny</a:t>
            </a:r>
            <a:endParaRPr sz="700"/>
          </a:p>
        </p:txBody>
      </p:sp>
      <p:sp>
        <p:nvSpPr>
          <p:cNvPr id="144" name="Google Shape;144;p25"/>
          <p:cNvSpPr txBox="1"/>
          <p:nvPr/>
        </p:nvSpPr>
        <p:spPr>
          <a:xfrm>
            <a:off x="5355863" y="4457691"/>
            <a:ext cx="2407146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800AD"/>
                </a:solidFill>
                <a:latin typeface="Arial"/>
                <a:ea typeface="Arial"/>
                <a:cs typeface="Arial"/>
                <a:sym typeface="Arial"/>
              </a:rPr>
              <a:t>Eng. Hams Khaled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7961216" y="148648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1"/>
                </a:lnTo>
                <a:lnTo>
                  <a:pt x="0" y="105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150" name="Google Shape;150;p26"/>
          <p:cNvSpPr/>
          <p:nvPr/>
        </p:nvSpPr>
        <p:spPr>
          <a:xfrm flipH="1">
            <a:off x="7129279" y="3346699"/>
            <a:ext cx="1391890" cy="1796801"/>
          </a:xfrm>
          <a:custGeom>
            <a:rect b="b" l="l" r="r" t="t"/>
            <a:pathLst>
              <a:path extrusionOk="0" h="3593602" w="2783779">
                <a:moveTo>
                  <a:pt x="2783779" y="0"/>
                </a:moveTo>
                <a:lnTo>
                  <a:pt x="0" y="0"/>
                </a:lnTo>
                <a:lnTo>
                  <a:pt x="0" y="3593602"/>
                </a:lnTo>
                <a:lnTo>
                  <a:pt x="2783779" y="3593602"/>
                </a:lnTo>
                <a:lnTo>
                  <a:pt x="278377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9091" t="0"/>
            </a:stretch>
          </a:blipFill>
          <a:ln>
            <a:noFill/>
          </a:ln>
        </p:spPr>
      </p:sp>
      <p:grpSp>
        <p:nvGrpSpPr>
          <p:cNvPr id="151" name="Google Shape;151;p26"/>
          <p:cNvGrpSpPr/>
          <p:nvPr/>
        </p:nvGrpSpPr>
        <p:grpSpPr>
          <a:xfrm>
            <a:off x="584476" y="1291606"/>
            <a:ext cx="588898" cy="588898"/>
            <a:chOff x="0" y="0"/>
            <a:chExt cx="812800" cy="812800"/>
          </a:xfrm>
        </p:grpSpPr>
        <p:sp>
          <p:nvSpPr>
            <p:cNvPr id="152" name="Google Shape;152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700"/>
            </a:p>
          </p:txBody>
        </p:sp>
      </p:grpSp>
      <p:grpSp>
        <p:nvGrpSpPr>
          <p:cNvPr id="154" name="Google Shape;154;p26"/>
          <p:cNvGrpSpPr/>
          <p:nvPr/>
        </p:nvGrpSpPr>
        <p:grpSpPr>
          <a:xfrm>
            <a:off x="584476" y="1924702"/>
            <a:ext cx="588898" cy="588898"/>
            <a:chOff x="0" y="0"/>
            <a:chExt cx="812800" cy="812800"/>
          </a:xfrm>
        </p:grpSpPr>
        <p:sp>
          <p:nvSpPr>
            <p:cNvPr id="155" name="Google Shape;155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700"/>
            </a:p>
          </p:txBody>
        </p:sp>
      </p:grpSp>
      <p:grpSp>
        <p:nvGrpSpPr>
          <p:cNvPr id="157" name="Google Shape;157;p26"/>
          <p:cNvGrpSpPr/>
          <p:nvPr/>
        </p:nvGrpSpPr>
        <p:grpSpPr>
          <a:xfrm>
            <a:off x="584476" y="2585311"/>
            <a:ext cx="588898" cy="588898"/>
            <a:chOff x="0" y="0"/>
            <a:chExt cx="812800" cy="812800"/>
          </a:xfrm>
        </p:grpSpPr>
        <p:sp>
          <p:nvSpPr>
            <p:cNvPr id="158" name="Google Shape;15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700"/>
            </a:p>
          </p:txBody>
        </p:sp>
      </p:grpSp>
      <p:grpSp>
        <p:nvGrpSpPr>
          <p:cNvPr id="160" name="Google Shape;160;p26"/>
          <p:cNvGrpSpPr/>
          <p:nvPr/>
        </p:nvGrpSpPr>
        <p:grpSpPr>
          <a:xfrm>
            <a:off x="584476" y="3245646"/>
            <a:ext cx="588898" cy="588898"/>
            <a:chOff x="0" y="0"/>
            <a:chExt cx="812800" cy="812800"/>
          </a:xfrm>
        </p:grpSpPr>
        <p:sp>
          <p:nvSpPr>
            <p:cNvPr id="161" name="Google Shape;16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700"/>
            </a:p>
          </p:txBody>
        </p:sp>
      </p:grpSp>
      <p:grpSp>
        <p:nvGrpSpPr>
          <p:cNvPr id="163" name="Google Shape;163;p26"/>
          <p:cNvGrpSpPr/>
          <p:nvPr/>
        </p:nvGrpSpPr>
        <p:grpSpPr>
          <a:xfrm>
            <a:off x="584476" y="3905982"/>
            <a:ext cx="588898" cy="588898"/>
            <a:chOff x="0" y="0"/>
            <a:chExt cx="812800" cy="812800"/>
          </a:xfrm>
        </p:grpSpPr>
        <p:sp>
          <p:nvSpPr>
            <p:cNvPr id="164" name="Google Shape;164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700"/>
            </a:p>
          </p:txBody>
        </p:sp>
      </p:grpSp>
      <p:grpSp>
        <p:nvGrpSpPr>
          <p:cNvPr id="166" name="Google Shape;166;p26"/>
          <p:cNvGrpSpPr/>
          <p:nvPr/>
        </p:nvGrpSpPr>
        <p:grpSpPr>
          <a:xfrm>
            <a:off x="4179471" y="1291606"/>
            <a:ext cx="588898" cy="588898"/>
            <a:chOff x="0" y="0"/>
            <a:chExt cx="812800" cy="812800"/>
          </a:xfrm>
        </p:grpSpPr>
        <p:sp>
          <p:nvSpPr>
            <p:cNvPr id="167" name="Google Shape;167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sz="700"/>
            </a:p>
          </p:txBody>
        </p:sp>
      </p:grpSp>
      <p:grpSp>
        <p:nvGrpSpPr>
          <p:cNvPr id="169" name="Google Shape;169;p26"/>
          <p:cNvGrpSpPr/>
          <p:nvPr/>
        </p:nvGrpSpPr>
        <p:grpSpPr>
          <a:xfrm>
            <a:off x="4179471" y="1924702"/>
            <a:ext cx="588898" cy="588898"/>
            <a:chOff x="0" y="0"/>
            <a:chExt cx="812800" cy="812800"/>
          </a:xfrm>
        </p:grpSpPr>
        <p:sp>
          <p:nvSpPr>
            <p:cNvPr id="170" name="Google Shape;170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sz="700"/>
            </a:p>
          </p:txBody>
        </p:sp>
      </p:grpSp>
      <p:sp>
        <p:nvSpPr>
          <p:cNvPr id="172" name="Google Shape;172;p26"/>
          <p:cNvSpPr txBox="1"/>
          <p:nvPr/>
        </p:nvSpPr>
        <p:spPr>
          <a:xfrm>
            <a:off x="823054" y="326757"/>
            <a:ext cx="2099353" cy="58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Agenda:</a:t>
            </a:r>
            <a:endParaRPr sz="700"/>
          </a:p>
        </p:txBody>
      </p:sp>
      <p:sp>
        <p:nvSpPr>
          <p:cNvPr id="173" name="Google Shape;173;p26"/>
          <p:cNvSpPr txBox="1"/>
          <p:nvPr/>
        </p:nvSpPr>
        <p:spPr>
          <a:xfrm>
            <a:off x="1272131" y="1388887"/>
            <a:ext cx="1930901" cy="3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Intorduction</a:t>
            </a:r>
            <a:endParaRPr sz="700"/>
          </a:p>
        </p:txBody>
      </p:sp>
      <p:sp>
        <p:nvSpPr>
          <p:cNvPr id="174" name="Google Shape;174;p26"/>
          <p:cNvSpPr txBox="1"/>
          <p:nvPr/>
        </p:nvSpPr>
        <p:spPr>
          <a:xfrm>
            <a:off x="1272131" y="2026110"/>
            <a:ext cx="1930901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Motivation </a:t>
            </a:r>
            <a:endParaRPr sz="700"/>
          </a:p>
        </p:txBody>
      </p:sp>
      <p:sp>
        <p:nvSpPr>
          <p:cNvPr id="175" name="Google Shape;175;p26"/>
          <p:cNvSpPr txBox="1"/>
          <p:nvPr/>
        </p:nvSpPr>
        <p:spPr>
          <a:xfrm>
            <a:off x="1272131" y="2704647"/>
            <a:ext cx="2784335" cy="34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700"/>
          </a:p>
        </p:txBody>
      </p:sp>
      <p:sp>
        <p:nvSpPr>
          <p:cNvPr id="176" name="Google Shape;176;p26"/>
          <p:cNvSpPr txBox="1"/>
          <p:nvPr/>
        </p:nvSpPr>
        <p:spPr>
          <a:xfrm>
            <a:off x="1272131" y="3306583"/>
            <a:ext cx="1930901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sz="700"/>
          </a:p>
        </p:txBody>
      </p:sp>
      <p:sp>
        <p:nvSpPr>
          <p:cNvPr id="177" name="Google Shape;177;p26"/>
          <p:cNvSpPr txBox="1"/>
          <p:nvPr/>
        </p:nvSpPr>
        <p:spPr>
          <a:xfrm>
            <a:off x="1189914" y="3955118"/>
            <a:ext cx="1547748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700"/>
          </a:p>
        </p:txBody>
      </p:sp>
      <p:sp>
        <p:nvSpPr>
          <p:cNvPr id="178" name="Google Shape;178;p26"/>
          <p:cNvSpPr txBox="1"/>
          <p:nvPr/>
        </p:nvSpPr>
        <p:spPr>
          <a:xfrm>
            <a:off x="4735172" y="2027219"/>
            <a:ext cx="2086125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Main Features</a:t>
            </a:r>
            <a:endParaRPr sz="700"/>
          </a:p>
        </p:txBody>
      </p:sp>
      <p:sp>
        <p:nvSpPr>
          <p:cNvPr id="179" name="Google Shape;179;p26"/>
          <p:cNvSpPr txBox="1"/>
          <p:nvPr/>
        </p:nvSpPr>
        <p:spPr>
          <a:xfrm>
            <a:off x="4820443" y="1338596"/>
            <a:ext cx="4134211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System design &amp; architecture </a:t>
            </a:r>
            <a:endParaRPr sz="700"/>
          </a:p>
        </p:txBody>
      </p:sp>
      <p:grpSp>
        <p:nvGrpSpPr>
          <p:cNvPr id="180" name="Google Shape;180;p26"/>
          <p:cNvGrpSpPr/>
          <p:nvPr/>
        </p:nvGrpSpPr>
        <p:grpSpPr>
          <a:xfrm>
            <a:off x="4187204" y="3905982"/>
            <a:ext cx="588898" cy="588898"/>
            <a:chOff x="0" y="0"/>
            <a:chExt cx="812800" cy="812800"/>
          </a:xfrm>
        </p:grpSpPr>
        <p:sp>
          <p:nvSpPr>
            <p:cNvPr id="181" name="Google Shape;18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09</a:t>
              </a:r>
              <a:endParaRPr sz="700"/>
            </a:p>
          </p:txBody>
        </p:sp>
      </p:grpSp>
      <p:sp>
        <p:nvSpPr>
          <p:cNvPr id="183" name="Google Shape;183;p26"/>
          <p:cNvSpPr txBox="1"/>
          <p:nvPr/>
        </p:nvSpPr>
        <p:spPr>
          <a:xfrm>
            <a:off x="4749319" y="4025005"/>
            <a:ext cx="1774071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700"/>
          </a:p>
        </p:txBody>
      </p:sp>
      <p:grpSp>
        <p:nvGrpSpPr>
          <p:cNvPr id="184" name="Google Shape;184;p26"/>
          <p:cNvGrpSpPr/>
          <p:nvPr/>
        </p:nvGrpSpPr>
        <p:grpSpPr>
          <a:xfrm>
            <a:off x="4179471" y="3245646"/>
            <a:ext cx="588898" cy="588898"/>
            <a:chOff x="0" y="0"/>
            <a:chExt cx="812800" cy="812800"/>
          </a:xfrm>
        </p:grpSpPr>
        <p:sp>
          <p:nvSpPr>
            <p:cNvPr id="185" name="Google Shape;185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sz="700"/>
            </a:p>
          </p:txBody>
        </p:sp>
      </p:grpSp>
      <p:sp>
        <p:nvSpPr>
          <p:cNvPr id="187" name="Google Shape;187;p26"/>
          <p:cNvSpPr txBox="1"/>
          <p:nvPr/>
        </p:nvSpPr>
        <p:spPr>
          <a:xfrm>
            <a:off x="4866131" y="3348163"/>
            <a:ext cx="1512154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700"/>
          </a:p>
        </p:txBody>
      </p:sp>
      <p:grpSp>
        <p:nvGrpSpPr>
          <p:cNvPr id="188" name="Google Shape;188;p26"/>
          <p:cNvGrpSpPr/>
          <p:nvPr/>
        </p:nvGrpSpPr>
        <p:grpSpPr>
          <a:xfrm>
            <a:off x="4179471" y="2603238"/>
            <a:ext cx="588898" cy="588898"/>
            <a:chOff x="0" y="0"/>
            <a:chExt cx="812800" cy="812800"/>
          </a:xfrm>
        </p:grpSpPr>
        <p:sp>
          <p:nvSpPr>
            <p:cNvPr id="189" name="Google Shape;189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2C4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sz="700"/>
            </a:p>
          </p:txBody>
        </p:sp>
      </p:grpSp>
      <p:sp>
        <p:nvSpPr>
          <p:cNvPr id="191" name="Google Shape;191;p26"/>
          <p:cNvSpPr txBox="1"/>
          <p:nvPr/>
        </p:nvSpPr>
        <p:spPr>
          <a:xfrm>
            <a:off x="4820443" y="2718100"/>
            <a:ext cx="2710577" cy="34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Dataset &amp; AI models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/>
        </p:nvSpPr>
        <p:spPr>
          <a:xfrm>
            <a:off x="1053399" y="505831"/>
            <a:ext cx="3518602" cy="551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700"/>
          </a:p>
        </p:txBody>
      </p:sp>
      <p:sp>
        <p:nvSpPr>
          <p:cNvPr id="197" name="Google Shape;197;p27"/>
          <p:cNvSpPr/>
          <p:nvPr/>
        </p:nvSpPr>
        <p:spPr>
          <a:xfrm>
            <a:off x="7961216" y="148648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1"/>
                </a:lnTo>
                <a:lnTo>
                  <a:pt x="0" y="105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198" name="Google Shape;198;p27"/>
          <p:cNvSpPr txBox="1"/>
          <p:nvPr/>
        </p:nvSpPr>
        <p:spPr>
          <a:xfrm>
            <a:off x="514350" y="1252673"/>
            <a:ext cx="7082883" cy="3089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Mobile App for learning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Speak and practice with ai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Learn with reels style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Divide the learning by levels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Memorize the learn process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 the future can add more languages </a:t>
            </a:r>
            <a:endParaRPr sz="700"/>
          </a:p>
          <a:p>
            <a:pPr indent="-273050" lvl="1" marL="54610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500"/>
              <a:buFont typeface="Arial"/>
              <a:buChar char="•"/>
            </a:pPr>
            <a:r>
              <a:rPr b="1" i="0" lang="en" sz="25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Error detection and correct 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/>
        </p:nvSpPr>
        <p:spPr>
          <a:xfrm>
            <a:off x="1053399" y="429866"/>
            <a:ext cx="6059525" cy="512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700"/>
          </a:p>
        </p:txBody>
      </p:sp>
      <p:sp>
        <p:nvSpPr>
          <p:cNvPr id="204" name="Google Shape;204;p28"/>
          <p:cNvSpPr/>
          <p:nvPr/>
        </p:nvSpPr>
        <p:spPr>
          <a:xfrm>
            <a:off x="7961216" y="148648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1"/>
                </a:lnTo>
                <a:lnTo>
                  <a:pt x="0" y="105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05" name="Google Shape;205;p28"/>
          <p:cNvSpPr txBox="1"/>
          <p:nvPr/>
        </p:nvSpPr>
        <p:spPr>
          <a:xfrm>
            <a:off x="368239" y="1500432"/>
            <a:ext cx="8089696" cy="3035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1" marL="39370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Growing demand for technology-enhanced learning</a:t>
            </a:r>
            <a:endParaRPr sz="700"/>
          </a:p>
          <a:p>
            <a:pPr indent="0" lvl="0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9370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E-learning: popular &amp; effective learning method</a:t>
            </a:r>
            <a:endParaRPr sz="700"/>
          </a:p>
          <a:p>
            <a:pPr indent="0" lvl="0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9370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Flexible and accessible for all learners</a:t>
            </a:r>
            <a:endParaRPr sz="700"/>
          </a:p>
          <a:p>
            <a:pPr indent="0" lvl="0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9370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Learn anytime, anywhere via smartphones &amp; tablets</a:t>
            </a:r>
            <a:endParaRPr sz="700"/>
          </a:p>
          <a:p>
            <a:pPr indent="0" lvl="0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39370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Self-learning: one of the most effective learning approaches</a:t>
            </a:r>
            <a:endParaRPr sz="700"/>
          </a:p>
          <a:p>
            <a:pPr indent="0" lvl="0" marL="0" marR="0" rtl="0" algn="l">
              <a:lnSpc>
                <a:spcPct val="13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/>
        </p:nvSpPr>
        <p:spPr>
          <a:xfrm>
            <a:off x="-104775" y="1305540"/>
            <a:ext cx="5343452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1" marL="3937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Market Opportunity:</a:t>
            </a:r>
            <a:endParaRPr sz="700"/>
          </a:p>
        </p:txBody>
      </p:sp>
      <p:sp>
        <p:nvSpPr>
          <p:cNvPr id="211" name="Google Shape;211;p29"/>
          <p:cNvSpPr/>
          <p:nvPr/>
        </p:nvSpPr>
        <p:spPr>
          <a:xfrm>
            <a:off x="7961216" y="148648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1"/>
                </a:lnTo>
                <a:lnTo>
                  <a:pt x="0" y="105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12" name="Google Shape;212;p29"/>
          <p:cNvSpPr txBox="1"/>
          <p:nvPr/>
        </p:nvSpPr>
        <p:spPr>
          <a:xfrm>
            <a:off x="1053399" y="429852"/>
            <a:ext cx="6011797" cy="512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 Motivation</a:t>
            </a:r>
            <a:endParaRPr sz="700"/>
          </a:p>
        </p:txBody>
      </p:sp>
      <p:sp>
        <p:nvSpPr>
          <p:cNvPr id="213" name="Google Shape;213;p29"/>
          <p:cNvSpPr txBox="1"/>
          <p:nvPr/>
        </p:nvSpPr>
        <p:spPr>
          <a:xfrm>
            <a:off x="476735" y="1613212"/>
            <a:ext cx="6340443" cy="268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High Demand</a:t>
            </a:r>
            <a:r>
              <a:rPr b="1" i="0" lang="en" sz="16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: Global interest in learning for travel and work</a:t>
            </a:r>
            <a:endParaRPr sz="700"/>
          </a:p>
        </p:txBody>
      </p:sp>
      <p:sp>
        <p:nvSpPr>
          <p:cNvPr id="214" name="Google Shape;214;p29"/>
          <p:cNvSpPr txBox="1"/>
          <p:nvPr/>
        </p:nvSpPr>
        <p:spPr>
          <a:xfrm>
            <a:off x="476735" y="1958023"/>
            <a:ext cx="6402784" cy="268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Digital Shift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E-learning is now essential and booming</a:t>
            </a:r>
            <a:endParaRPr sz="700"/>
          </a:p>
        </p:txBody>
      </p:sp>
      <p:sp>
        <p:nvSpPr>
          <p:cNvPr id="215" name="Google Shape;215;p29"/>
          <p:cNvSpPr txBox="1"/>
          <p:nvPr/>
        </p:nvSpPr>
        <p:spPr>
          <a:xfrm>
            <a:off x="-104775" y="2269808"/>
            <a:ext cx="5343452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1" marL="3937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Current Gaps:</a:t>
            </a:r>
            <a:endParaRPr sz="700"/>
          </a:p>
        </p:txBody>
      </p:sp>
      <p:sp>
        <p:nvSpPr>
          <p:cNvPr id="216" name="Google Shape;216;p29"/>
          <p:cNvSpPr txBox="1"/>
          <p:nvPr/>
        </p:nvSpPr>
        <p:spPr>
          <a:xfrm>
            <a:off x="381133" y="2597923"/>
            <a:ext cx="8931827" cy="268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The Churn Problem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High initial downloads, but severe user drop-off over time</a:t>
            </a:r>
            <a:endParaRPr sz="700"/>
          </a:p>
        </p:txBody>
      </p:sp>
      <p:sp>
        <p:nvSpPr>
          <p:cNvPr id="217" name="Google Shape;217;p29"/>
          <p:cNvSpPr txBox="1"/>
          <p:nvPr/>
        </p:nvSpPr>
        <p:spPr>
          <a:xfrm>
            <a:off x="381133" y="3790096"/>
            <a:ext cx="7851021" cy="268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Lack of Engagement: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Current apps miss social and motivational features</a:t>
            </a:r>
            <a:endParaRPr sz="700"/>
          </a:p>
        </p:txBody>
      </p:sp>
      <p:sp>
        <p:nvSpPr>
          <p:cNvPr id="218" name="Google Shape;218;p29"/>
          <p:cNvSpPr txBox="1"/>
          <p:nvPr/>
        </p:nvSpPr>
        <p:spPr>
          <a:xfrm>
            <a:off x="381133" y="2995082"/>
            <a:ext cx="8172559" cy="26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Tech Gap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:Traditional apps don't use modern AI</a:t>
            </a:r>
            <a:endParaRPr sz="700"/>
          </a:p>
        </p:txBody>
      </p:sp>
      <p:sp>
        <p:nvSpPr>
          <p:cNvPr id="219" name="Google Shape;219;p29"/>
          <p:cNvSpPr txBox="1"/>
          <p:nvPr/>
        </p:nvSpPr>
        <p:spPr>
          <a:xfrm>
            <a:off x="381133" y="3392586"/>
            <a:ext cx="8248517" cy="268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Rigid Experience</a:t>
            </a: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Existing solutions are not customizable and for user levels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/>
        </p:nvSpPr>
        <p:spPr>
          <a:xfrm>
            <a:off x="1019802" y="416500"/>
            <a:ext cx="5955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700"/>
          </a:p>
        </p:txBody>
      </p:sp>
      <p:sp>
        <p:nvSpPr>
          <p:cNvPr id="225" name="Google Shape;225;p30"/>
          <p:cNvSpPr/>
          <p:nvPr/>
        </p:nvSpPr>
        <p:spPr>
          <a:xfrm>
            <a:off x="7961216" y="148648"/>
            <a:ext cx="993438" cy="527280"/>
          </a:xfrm>
          <a:custGeom>
            <a:rect b="b" l="l" r="r" t="t"/>
            <a:pathLst>
              <a:path extrusionOk="0" h="1054560" w="1986876">
                <a:moveTo>
                  <a:pt x="0" y="0"/>
                </a:moveTo>
                <a:lnTo>
                  <a:pt x="1986876" y="0"/>
                </a:lnTo>
                <a:lnTo>
                  <a:pt x="1986876" y="1054561"/>
                </a:lnTo>
                <a:lnTo>
                  <a:pt x="0" y="1054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26" name="Google Shape;226;p30"/>
          <p:cNvSpPr txBox="1"/>
          <p:nvPr/>
        </p:nvSpPr>
        <p:spPr>
          <a:xfrm>
            <a:off x="346571" y="1221596"/>
            <a:ext cx="4993032" cy="1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1) User Retention &amp; Engagement</a:t>
            </a:r>
            <a:endParaRPr sz="700"/>
          </a:p>
          <a:p>
            <a:pPr indent="-190500" lvl="1" marL="381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High initial downloads but severe user churn</a:t>
            </a:r>
            <a:endParaRPr sz="700"/>
          </a:p>
          <a:p>
            <a:pPr indent="-190500" lvl="1" marL="381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Day-30 retention only ~2.78%–4.0%</a:t>
            </a:r>
            <a:endParaRPr sz="700"/>
          </a:p>
          <a:p>
            <a:pPr indent="-190500" lvl="1" marL="381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Lack of social </a:t>
            </a:r>
            <a:endParaRPr sz="700"/>
          </a:p>
        </p:txBody>
      </p:sp>
      <p:sp>
        <p:nvSpPr>
          <p:cNvPr id="227" name="Google Shape;227;p30"/>
          <p:cNvSpPr txBox="1"/>
          <p:nvPr/>
        </p:nvSpPr>
        <p:spPr>
          <a:xfrm>
            <a:off x="346571" y="3115343"/>
            <a:ext cx="7546362" cy="9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2) Learning Effectiveness (Efficacy)</a:t>
            </a:r>
            <a:endParaRPr sz="700"/>
          </a:p>
          <a:p>
            <a:pPr indent="-190500" lvl="1" marL="381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Some apps are non-adaptive and don’t personalize support</a:t>
            </a:r>
            <a:endParaRPr sz="700"/>
          </a:p>
          <a:p>
            <a:pPr indent="-190500" lvl="1" marL="381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Leads to limited improvement in core language skills</a:t>
            </a:r>
            <a:endParaRPr sz="700"/>
          </a:p>
        </p:txBody>
      </p:sp>
      <p:sp>
        <p:nvSpPr>
          <p:cNvPr id="228" name="Google Shape;228;p30"/>
          <p:cNvSpPr txBox="1"/>
          <p:nvPr/>
        </p:nvSpPr>
        <p:spPr>
          <a:xfrm>
            <a:off x="346571" y="4309143"/>
            <a:ext cx="7077843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3) Lack of social interaction in the self-learning experience</a:t>
            </a:r>
            <a:endParaRPr sz="700"/>
          </a:p>
        </p:txBody>
      </p:sp>
      <p:sp>
        <p:nvSpPr>
          <p:cNvPr id="229" name="Google Shape;229;p30"/>
          <p:cNvSpPr/>
          <p:nvPr/>
        </p:nvSpPr>
        <p:spPr>
          <a:xfrm>
            <a:off x="5459801" y="1189632"/>
            <a:ext cx="3684200" cy="2090821"/>
          </a:xfrm>
          <a:custGeom>
            <a:rect b="b" l="l" r="r" t="t"/>
            <a:pathLst>
              <a:path extrusionOk="0" h="4181643" w="7368399">
                <a:moveTo>
                  <a:pt x="0" y="0"/>
                </a:moveTo>
                <a:lnTo>
                  <a:pt x="7368399" y="0"/>
                </a:lnTo>
                <a:lnTo>
                  <a:pt x="7368399" y="4181643"/>
                </a:lnTo>
                <a:lnTo>
                  <a:pt x="0" y="4181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46" r="-194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/>
          <p:nvPr/>
        </p:nvSpPr>
        <p:spPr>
          <a:xfrm>
            <a:off x="4933805" y="74668"/>
            <a:ext cx="613683" cy="624614"/>
          </a:xfrm>
          <a:custGeom>
            <a:rect b="b" l="l" r="r" t="t"/>
            <a:pathLst>
              <a:path extrusionOk="0" h="1249228" w="1227366">
                <a:moveTo>
                  <a:pt x="0" y="0"/>
                </a:moveTo>
                <a:lnTo>
                  <a:pt x="1227366" y="0"/>
                </a:lnTo>
                <a:lnTo>
                  <a:pt x="1227366" y="1249228"/>
                </a:lnTo>
                <a:lnTo>
                  <a:pt x="0" y="12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35" name="Google Shape;235;p31"/>
          <p:cNvGraphicFramePr/>
          <p:nvPr/>
        </p:nvGraphicFramePr>
        <p:xfrm>
          <a:off x="118788" y="1104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{754CBB3C-4B7B-402B-A6EE-557A08AFDFCF}</a:tableStyleId>
              </a:tblPr>
              <a:tblGrid>
                <a:gridCol w="1808850"/>
                <a:gridCol w="2134650"/>
                <a:gridCol w="2453375"/>
                <a:gridCol w="2453375"/>
              </a:tblGrid>
              <a:tr h="50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Speak – AI 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Stimuler AI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Lerna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Ease of use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FF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FF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Gemification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Gemification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Gemification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FF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12$ per year </a:t>
                      </a:r>
                      <a:endParaRPr sz="600" u="none" cap="none" strike="noStrike"/>
                    </a:p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Cheapest one</a:t>
                      </a:r>
                      <a:endParaRPr sz="700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fully generated with ai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poor content 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FF31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Unstructured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72C4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Socialization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socialization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socialization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 u="none" cap="none" strike="noStrike">
                          <a:solidFill>
                            <a:srgbClr val="0D0D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socialization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31"/>
          <p:cNvSpPr/>
          <p:nvPr/>
        </p:nvSpPr>
        <p:spPr>
          <a:xfrm>
            <a:off x="2633275" y="74622"/>
            <a:ext cx="708520" cy="630387"/>
          </a:xfrm>
          <a:custGeom>
            <a:rect b="b" l="l" r="r" t="t"/>
            <a:pathLst>
              <a:path extrusionOk="0" h="1260774" w="1417039">
                <a:moveTo>
                  <a:pt x="0" y="0"/>
                </a:moveTo>
                <a:lnTo>
                  <a:pt x="1417039" y="0"/>
                </a:lnTo>
                <a:lnTo>
                  <a:pt x="1417039" y="1260774"/>
                </a:lnTo>
                <a:lnTo>
                  <a:pt x="0" y="1260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31"/>
          <p:cNvSpPr/>
          <p:nvPr/>
        </p:nvSpPr>
        <p:spPr>
          <a:xfrm>
            <a:off x="7375277" y="74622"/>
            <a:ext cx="630387" cy="630387"/>
          </a:xfrm>
          <a:custGeom>
            <a:rect b="b" l="l" r="r" t="t"/>
            <a:pathLst>
              <a:path extrusionOk="0" h="1260774" w="1260774">
                <a:moveTo>
                  <a:pt x="0" y="0"/>
                </a:moveTo>
                <a:lnTo>
                  <a:pt x="1260774" y="0"/>
                </a:lnTo>
                <a:lnTo>
                  <a:pt x="1260774" y="1260774"/>
                </a:lnTo>
                <a:lnTo>
                  <a:pt x="0" y="1260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8" name="Google Shape;238;p31"/>
          <p:cNvCxnSpPr/>
          <p:nvPr/>
        </p:nvCxnSpPr>
        <p:spPr>
          <a:xfrm>
            <a:off x="118788" y="1130600"/>
            <a:ext cx="1452129" cy="48865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1"/>
          <p:cNvSpPr txBox="1"/>
          <p:nvPr/>
        </p:nvSpPr>
        <p:spPr>
          <a:xfrm>
            <a:off x="188383" y="399891"/>
            <a:ext cx="2302017" cy="704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endParaRPr sz="700"/>
          </a:p>
          <a:p>
            <a:pPr indent="0" lvl="0" marL="0" marR="0" rtl="0" algn="l">
              <a:lnSpc>
                <a:spcPct val="81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5E2B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2687349" y="678138"/>
            <a:ext cx="600372" cy="352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700"/>
          </a:p>
        </p:txBody>
      </p:sp>
      <p:sp>
        <p:nvSpPr>
          <p:cNvPr id="241" name="Google Shape;241;p31"/>
          <p:cNvSpPr txBox="1"/>
          <p:nvPr/>
        </p:nvSpPr>
        <p:spPr>
          <a:xfrm rot="1071475">
            <a:off x="564962" y="1182941"/>
            <a:ext cx="926587" cy="220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700"/>
          </a:p>
        </p:txBody>
      </p:sp>
      <p:sp>
        <p:nvSpPr>
          <p:cNvPr id="242" name="Google Shape;242;p31"/>
          <p:cNvSpPr txBox="1"/>
          <p:nvPr/>
        </p:nvSpPr>
        <p:spPr>
          <a:xfrm rot="1176357">
            <a:off x="134197" y="1313637"/>
            <a:ext cx="1043379" cy="216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700"/>
          </a:p>
        </p:txBody>
      </p:sp>
      <p:sp>
        <p:nvSpPr>
          <p:cNvPr id="243" name="Google Shape;243;p31"/>
          <p:cNvSpPr txBox="1"/>
          <p:nvPr/>
        </p:nvSpPr>
        <p:spPr>
          <a:xfrm>
            <a:off x="4950509" y="661182"/>
            <a:ext cx="596979" cy="352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700"/>
          </a:p>
        </p:txBody>
      </p:sp>
      <p:sp>
        <p:nvSpPr>
          <p:cNvPr id="244" name="Google Shape;244;p31"/>
          <p:cNvSpPr txBox="1"/>
          <p:nvPr/>
        </p:nvSpPr>
        <p:spPr>
          <a:xfrm>
            <a:off x="7375277" y="678138"/>
            <a:ext cx="600373" cy="352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/>
        </p:nvSpPr>
        <p:spPr>
          <a:xfrm>
            <a:off x="1053398" y="527673"/>
            <a:ext cx="4957199" cy="512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Objectives </a:t>
            </a:r>
            <a:endParaRPr sz="700"/>
          </a:p>
        </p:txBody>
      </p:sp>
      <p:sp>
        <p:nvSpPr>
          <p:cNvPr id="250" name="Google Shape;250;p32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51" name="Google Shape;251;p32"/>
          <p:cNvSpPr txBox="1"/>
          <p:nvPr/>
        </p:nvSpPr>
        <p:spPr>
          <a:xfrm>
            <a:off x="129836" y="1589225"/>
            <a:ext cx="8115300" cy="23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50" lvl="1" marL="41910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1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Develop an adaptive AI-powered mobile app to improve English proficiency.</a:t>
            </a:r>
            <a:endParaRPr sz="7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1" marL="41910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1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Leverage AI customizatiom, speech recognition, microlearning, and spaced repetition  </a:t>
            </a:r>
            <a:endParaRPr sz="7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1" marL="41910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1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Implement gamification and social interaction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57" name="Google Shape;257;p33"/>
          <p:cNvSpPr/>
          <p:nvPr/>
        </p:nvSpPr>
        <p:spPr>
          <a:xfrm>
            <a:off x="994456" y="924021"/>
            <a:ext cx="7155088" cy="4767077"/>
          </a:xfrm>
          <a:custGeom>
            <a:rect b="b" l="l" r="r" t="t"/>
            <a:pathLst>
              <a:path extrusionOk="0" h="9534154" w="14310175">
                <a:moveTo>
                  <a:pt x="0" y="0"/>
                </a:moveTo>
                <a:lnTo>
                  <a:pt x="14310176" y="0"/>
                </a:lnTo>
                <a:lnTo>
                  <a:pt x="14310176" y="9534154"/>
                </a:lnTo>
                <a:lnTo>
                  <a:pt x="0" y="953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33"/>
          <p:cNvSpPr txBox="1"/>
          <p:nvPr/>
        </p:nvSpPr>
        <p:spPr>
          <a:xfrm>
            <a:off x="1800296" y="-85725"/>
            <a:ext cx="5776123" cy="73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64" name="Google Shape;264;p34"/>
          <p:cNvSpPr/>
          <p:nvPr/>
        </p:nvSpPr>
        <p:spPr>
          <a:xfrm>
            <a:off x="724751" y="722161"/>
            <a:ext cx="7569491" cy="5043174"/>
          </a:xfrm>
          <a:custGeom>
            <a:rect b="b" l="l" r="r" t="t"/>
            <a:pathLst>
              <a:path extrusionOk="0" h="10086347" w="15138982">
                <a:moveTo>
                  <a:pt x="0" y="0"/>
                </a:moveTo>
                <a:lnTo>
                  <a:pt x="15138983" y="0"/>
                </a:lnTo>
                <a:lnTo>
                  <a:pt x="15138983" y="10086347"/>
                </a:lnTo>
                <a:lnTo>
                  <a:pt x="0" y="10086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34"/>
          <p:cNvSpPr txBox="1"/>
          <p:nvPr/>
        </p:nvSpPr>
        <p:spPr>
          <a:xfrm>
            <a:off x="1683938" y="-8086"/>
            <a:ext cx="5776123" cy="73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ERD DIAGRAM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283711" y="1735309"/>
            <a:ext cx="8576578" cy="97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7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Lingoose functionality</a:t>
            </a:r>
            <a:endParaRPr sz="700"/>
          </a:p>
        </p:txBody>
      </p:sp>
      <p:sp>
        <p:nvSpPr>
          <p:cNvPr id="271" name="Google Shape;271;p35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72" name="Google Shape;272;p35"/>
          <p:cNvSpPr txBox="1"/>
          <p:nvPr/>
        </p:nvSpPr>
        <p:spPr>
          <a:xfrm>
            <a:off x="1201782" y="2691330"/>
            <a:ext cx="6725430" cy="76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Main Features</a:t>
            </a:r>
            <a:endParaRPr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/>
        </p:nvSpPr>
        <p:spPr>
          <a:xfrm>
            <a:off x="805301" y="328463"/>
            <a:ext cx="6003793" cy="677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Lingoose functionality</a:t>
            </a:r>
            <a:endParaRPr sz="700"/>
          </a:p>
        </p:txBody>
      </p:sp>
      <p:sp>
        <p:nvSpPr>
          <p:cNvPr id="278" name="Google Shape;278;p36"/>
          <p:cNvSpPr txBox="1"/>
          <p:nvPr/>
        </p:nvSpPr>
        <p:spPr>
          <a:xfrm>
            <a:off x="514350" y="1470540"/>
            <a:ext cx="5345254" cy="2806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858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Arial"/>
              <a:buAutoNum type="arabicPeriod"/>
            </a:pPr>
            <a:r>
              <a:rPr b="0" i="0" lang="en" sz="32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Practice with AI</a:t>
            </a:r>
            <a:endParaRPr sz="700"/>
          </a:p>
          <a:p>
            <a:pPr indent="-342900" lvl="1" marL="6858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Arial"/>
              <a:buAutoNum type="arabicPeriod"/>
            </a:pPr>
            <a:r>
              <a:rPr b="0" i="0" lang="en" sz="32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AI Writing Practice </a:t>
            </a:r>
            <a:endParaRPr sz="700"/>
          </a:p>
          <a:p>
            <a:pPr indent="-342900" lvl="1" marL="6858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Arial"/>
              <a:buAutoNum type="arabicPeriod"/>
            </a:pPr>
            <a:r>
              <a:rPr b="0" i="0" lang="en" sz="32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Practice with friends</a:t>
            </a:r>
            <a:endParaRPr sz="700"/>
          </a:p>
          <a:p>
            <a:pPr indent="-342900" lvl="1" marL="6858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Arial"/>
              <a:buAutoNum type="arabicPeriod"/>
            </a:pPr>
            <a:r>
              <a:rPr b="0" i="0" lang="en" sz="32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Detailed Level Analysis</a:t>
            </a:r>
            <a:endParaRPr sz="700"/>
          </a:p>
          <a:p>
            <a:pPr indent="-342900" lvl="1" marL="68580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Arial"/>
              <a:buAutoNum type="arabicPeriod"/>
            </a:pPr>
            <a:r>
              <a:rPr b="0" i="0" lang="en" sz="32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Roleplay Senarios </a:t>
            </a:r>
            <a:endParaRPr sz="700"/>
          </a:p>
        </p:txBody>
      </p:sp>
      <p:sp>
        <p:nvSpPr>
          <p:cNvPr id="279" name="Google Shape;279;p36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/>
          <p:nvPr/>
        </p:nvSpPr>
        <p:spPr>
          <a:xfrm>
            <a:off x="405890" y="590087"/>
            <a:ext cx="1684348" cy="3641834"/>
          </a:xfrm>
          <a:custGeom>
            <a:rect b="b" l="l" r="r" t="t"/>
            <a:pathLst>
              <a:path extrusionOk="0" h="8882523" w="4108167">
                <a:moveTo>
                  <a:pt x="0" y="0"/>
                </a:moveTo>
                <a:lnTo>
                  <a:pt x="4108167" y="0"/>
                </a:lnTo>
                <a:lnTo>
                  <a:pt x="4108167" y="8882524"/>
                </a:lnTo>
                <a:lnTo>
                  <a:pt x="0" y="8882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37"/>
          <p:cNvSpPr txBox="1"/>
          <p:nvPr/>
        </p:nvSpPr>
        <p:spPr>
          <a:xfrm>
            <a:off x="0" y="4231925"/>
            <a:ext cx="22917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4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Practice with AI </a:t>
            </a:r>
            <a:endParaRPr sz="100"/>
          </a:p>
        </p:txBody>
      </p:sp>
      <p:sp>
        <p:nvSpPr>
          <p:cNvPr id="286" name="Google Shape;286;p37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287" name="Google Shape;287;p37"/>
          <p:cNvSpPr/>
          <p:nvPr/>
        </p:nvSpPr>
        <p:spPr>
          <a:xfrm>
            <a:off x="2295049" y="635474"/>
            <a:ext cx="1679989" cy="3632408"/>
          </a:xfrm>
          <a:custGeom>
            <a:rect b="b" l="l" r="r" t="t"/>
            <a:pathLst>
              <a:path extrusionOk="0" h="8208832" w="3796585">
                <a:moveTo>
                  <a:pt x="0" y="0"/>
                </a:moveTo>
                <a:lnTo>
                  <a:pt x="3796585" y="0"/>
                </a:lnTo>
                <a:lnTo>
                  <a:pt x="3796585" y="8208831"/>
                </a:lnTo>
                <a:lnTo>
                  <a:pt x="0" y="8208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37"/>
          <p:cNvSpPr txBox="1"/>
          <p:nvPr/>
        </p:nvSpPr>
        <p:spPr>
          <a:xfrm>
            <a:off x="1905625" y="4269525"/>
            <a:ext cx="2291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 sz="100"/>
          </a:p>
        </p:txBody>
      </p:sp>
      <p:sp>
        <p:nvSpPr>
          <p:cNvPr id="289" name="Google Shape;289;p37"/>
          <p:cNvSpPr/>
          <p:nvPr/>
        </p:nvSpPr>
        <p:spPr>
          <a:xfrm>
            <a:off x="4045225" y="657588"/>
            <a:ext cx="1621904" cy="3506820"/>
          </a:xfrm>
          <a:custGeom>
            <a:rect b="b" l="l" r="r" t="t"/>
            <a:pathLst>
              <a:path extrusionOk="0" h="9542367" w="4413345">
                <a:moveTo>
                  <a:pt x="0" y="0"/>
                </a:moveTo>
                <a:lnTo>
                  <a:pt x="4413345" y="0"/>
                </a:lnTo>
                <a:lnTo>
                  <a:pt x="4413345" y="9542368"/>
                </a:lnTo>
                <a:lnTo>
                  <a:pt x="0" y="9542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37"/>
          <p:cNvSpPr/>
          <p:nvPr/>
        </p:nvSpPr>
        <p:spPr>
          <a:xfrm>
            <a:off x="5776087" y="657600"/>
            <a:ext cx="1627245" cy="3480739"/>
          </a:xfrm>
          <a:custGeom>
            <a:rect b="b" l="l" r="r" t="t"/>
            <a:pathLst>
              <a:path extrusionOk="0" h="7445430" w="3480738">
                <a:moveTo>
                  <a:pt x="0" y="0"/>
                </a:moveTo>
                <a:lnTo>
                  <a:pt x="3480738" y="0"/>
                </a:lnTo>
                <a:lnTo>
                  <a:pt x="3480738" y="7445430"/>
                </a:lnTo>
                <a:lnTo>
                  <a:pt x="0" y="7445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37"/>
          <p:cNvSpPr/>
          <p:nvPr/>
        </p:nvSpPr>
        <p:spPr>
          <a:xfrm>
            <a:off x="7512275" y="680350"/>
            <a:ext cx="1588804" cy="3435252"/>
          </a:xfrm>
          <a:custGeom>
            <a:rect b="b" l="l" r="r" t="t"/>
            <a:pathLst>
              <a:path extrusionOk="0" h="9542367" w="4413345">
                <a:moveTo>
                  <a:pt x="0" y="0"/>
                </a:moveTo>
                <a:lnTo>
                  <a:pt x="4413345" y="0"/>
                </a:lnTo>
                <a:lnTo>
                  <a:pt x="4413345" y="9542368"/>
                </a:lnTo>
                <a:lnTo>
                  <a:pt x="0" y="9542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37"/>
          <p:cNvSpPr txBox="1"/>
          <p:nvPr/>
        </p:nvSpPr>
        <p:spPr>
          <a:xfrm>
            <a:off x="3588000" y="4269525"/>
            <a:ext cx="22917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AI Writing </a:t>
            </a:r>
            <a:endParaRPr b="1" sz="1549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Practice</a:t>
            </a:r>
            <a:endParaRPr b="1" sz="1549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5443850" y="4231925"/>
            <a:ext cx="22917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Practice with</a:t>
            </a:r>
            <a:endParaRPr b="1" sz="1549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Friends</a:t>
            </a:r>
            <a:endParaRPr b="1" sz="1549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7567025" y="4164400"/>
            <a:ext cx="1479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49">
                <a:latin typeface="Montserrat"/>
                <a:ea typeface="Montserrat"/>
                <a:cs typeface="Montserrat"/>
                <a:sym typeface="Montserrat"/>
              </a:rPr>
              <a:t>Detailed Report</a:t>
            </a:r>
            <a:endParaRPr b="1" sz="1549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/>
        </p:nvSpPr>
        <p:spPr>
          <a:xfrm>
            <a:off x="514350" y="1151600"/>
            <a:ext cx="6462597" cy="315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1) Mobile App Development</a:t>
            </a:r>
            <a:endParaRPr sz="700"/>
          </a:p>
          <a:p>
            <a:pPr indent="-215900" lvl="1" marL="4318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000"/>
              <a:buFont typeface="Arial"/>
              <a:buChar char="•"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Flutter (cross-platform mobile framework)</a:t>
            </a:r>
            <a:endParaRPr sz="700"/>
          </a:p>
          <a:p>
            <a:pPr indent="-215900" lvl="1" marL="4318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000"/>
              <a:buFont typeface="Arial"/>
              <a:buChar char="•"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Dart (programming language)</a:t>
            </a:r>
            <a:endParaRPr sz="700"/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2) Backend / Database</a:t>
            </a:r>
            <a:endParaRPr sz="700"/>
          </a:p>
          <a:p>
            <a:pPr indent="-215900" lvl="1" marL="4318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000"/>
              <a:buFont typeface="Arial"/>
              <a:buChar char="•"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Firebase platform services</a:t>
            </a:r>
            <a:endParaRPr sz="700"/>
          </a:p>
          <a:p>
            <a:pPr indent="-215900" lvl="1" marL="4318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000"/>
              <a:buFont typeface="Arial"/>
              <a:buChar char="•"/>
            </a:pPr>
            <a:r>
              <a:rPr b="1" i="0" lang="en" sz="2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Cloud Firestore (database for users, progress, content, social feed, etc.)</a:t>
            </a:r>
            <a:endParaRPr sz="700"/>
          </a:p>
        </p:txBody>
      </p:sp>
      <p:sp>
        <p:nvSpPr>
          <p:cNvPr id="300" name="Google Shape;300;p38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01" name="Google Shape;301;p38"/>
          <p:cNvSpPr/>
          <p:nvPr/>
        </p:nvSpPr>
        <p:spPr>
          <a:xfrm>
            <a:off x="7686014" y="1246093"/>
            <a:ext cx="711797" cy="825145"/>
          </a:xfrm>
          <a:custGeom>
            <a:rect b="b" l="l" r="r" t="t"/>
            <a:pathLst>
              <a:path extrusionOk="0" h="1650291" w="1423594">
                <a:moveTo>
                  <a:pt x="0" y="0"/>
                </a:moveTo>
                <a:lnTo>
                  <a:pt x="1423594" y="0"/>
                </a:lnTo>
                <a:lnTo>
                  <a:pt x="1423594" y="1650291"/>
                </a:lnTo>
                <a:lnTo>
                  <a:pt x="0" y="165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1758" l="-876" r="-876" t="0"/>
            </a:stretch>
          </a:blipFill>
          <a:ln>
            <a:noFill/>
          </a:ln>
        </p:spPr>
      </p:sp>
      <p:sp>
        <p:nvSpPr>
          <p:cNvPr id="302" name="Google Shape;302;p38"/>
          <p:cNvSpPr/>
          <p:nvPr/>
        </p:nvSpPr>
        <p:spPr>
          <a:xfrm>
            <a:off x="6366874" y="1189700"/>
            <a:ext cx="848050" cy="937931"/>
          </a:xfrm>
          <a:custGeom>
            <a:rect b="b" l="l" r="r" t="t"/>
            <a:pathLst>
              <a:path extrusionOk="0" h="1875862" w="1696100">
                <a:moveTo>
                  <a:pt x="0" y="0"/>
                </a:moveTo>
                <a:lnTo>
                  <a:pt x="1696100" y="0"/>
                </a:lnTo>
                <a:lnTo>
                  <a:pt x="1696100" y="1875863"/>
                </a:lnTo>
                <a:lnTo>
                  <a:pt x="0" y="1875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1818" l="0" r="0" t="0"/>
            </a:stretch>
          </a:blipFill>
          <a:ln>
            <a:noFill/>
          </a:ln>
        </p:spPr>
      </p:sp>
      <p:sp>
        <p:nvSpPr>
          <p:cNvPr id="303" name="Google Shape;303;p38"/>
          <p:cNvSpPr/>
          <p:nvPr/>
        </p:nvSpPr>
        <p:spPr>
          <a:xfrm>
            <a:off x="7149335" y="2882711"/>
            <a:ext cx="768518" cy="969740"/>
          </a:xfrm>
          <a:custGeom>
            <a:rect b="b" l="l" r="r" t="t"/>
            <a:pathLst>
              <a:path extrusionOk="0" h="1939479" w="1537037">
                <a:moveTo>
                  <a:pt x="0" y="0"/>
                </a:moveTo>
                <a:lnTo>
                  <a:pt x="1537037" y="0"/>
                </a:lnTo>
                <a:lnTo>
                  <a:pt x="1537037" y="1939479"/>
                </a:lnTo>
                <a:lnTo>
                  <a:pt x="0" y="1939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38"/>
          <p:cNvSpPr txBox="1"/>
          <p:nvPr/>
        </p:nvSpPr>
        <p:spPr>
          <a:xfrm>
            <a:off x="1053398" y="189411"/>
            <a:ext cx="5069021" cy="73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Arial"/>
                <a:ea typeface="Arial"/>
                <a:cs typeface="Arial"/>
                <a:sym typeface="Arial"/>
              </a:rPr>
              <a:t>Technologies :</a:t>
            </a:r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10" name="Google Shape;310;p39"/>
          <p:cNvSpPr txBox="1"/>
          <p:nvPr/>
        </p:nvSpPr>
        <p:spPr>
          <a:xfrm>
            <a:off x="632715" y="1998505"/>
            <a:ext cx="9598555" cy="1032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1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Dataset &amp; AI models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16" name="Google Shape;316;p40"/>
          <p:cNvSpPr/>
          <p:nvPr/>
        </p:nvSpPr>
        <p:spPr>
          <a:xfrm>
            <a:off x="5489427" y="2948225"/>
            <a:ext cx="3482533" cy="1877837"/>
          </a:xfrm>
          <a:custGeom>
            <a:rect b="b" l="l" r="r" t="t"/>
            <a:pathLst>
              <a:path extrusionOk="0" h="3755673" w="6965066">
                <a:moveTo>
                  <a:pt x="0" y="0"/>
                </a:moveTo>
                <a:lnTo>
                  <a:pt x="6965066" y="0"/>
                </a:lnTo>
                <a:lnTo>
                  <a:pt x="6965066" y="3755673"/>
                </a:lnTo>
                <a:lnTo>
                  <a:pt x="0" y="37556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40"/>
          <p:cNvSpPr txBox="1"/>
          <p:nvPr/>
        </p:nvSpPr>
        <p:spPr>
          <a:xfrm>
            <a:off x="514350" y="1026160"/>
            <a:ext cx="7699500" cy="1545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800AD"/>
              </a:buClr>
              <a:buSzPts val="1800"/>
              <a:buFont typeface="Arial"/>
              <a:buAutoNum type="arabicPeriod"/>
            </a:pPr>
            <a:r>
              <a:rPr b="1" i="0" lang="en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LJSpeech</a:t>
            </a:r>
            <a:endParaRPr sz="700"/>
          </a:p>
          <a:p>
            <a:pPr indent="-266700" lvl="2" marL="762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⚬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Utilized the LJSpeech benchmark dataset</a:t>
            </a:r>
            <a:endParaRPr sz="700"/>
          </a:p>
          <a:p>
            <a:pPr indent="-266700" lvl="2" marL="762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⚬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Sourced from LibriVox public domain audiobooks</a:t>
            </a:r>
            <a:endParaRPr sz="700"/>
          </a:p>
          <a:p>
            <a:pPr indent="-266700" lvl="2" marL="762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⚬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Contains 13,100 high-quality, normalized audio clips</a:t>
            </a:r>
            <a:endParaRPr sz="700"/>
          </a:p>
          <a:p>
            <a:pPr indent="-266700" lvl="2" marL="7620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⚬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volume: 2.6 GB (~24 hours of audio)</a:t>
            </a:r>
            <a:endParaRPr sz="700"/>
          </a:p>
        </p:txBody>
      </p:sp>
      <p:sp>
        <p:nvSpPr>
          <p:cNvPr id="318" name="Google Shape;318;p40"/>
          <p:cNvSpPr txBox="1"/>
          <p:nvPr/>
        </p:nvSpPr>
        <p:spPr>
          <a:xfrm>
            <a:off x="900416" y="318938"/>
            <a:ext cx="7026797" cy="72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/>
        </p:nvSpPr>
        <p:spPr>
          <a:xfrm>
            <a:off x="870683" y="269948"/>
            <a:ext cx="7269501" cy="56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STT Model Architecture </a:t>
            </a:r>
            <a:endParaRPr sz="700"/>
          </a:p>
        </p:txBody>
      </p:sp>
      <p:sp>
        <p:nvSpPr>
          <p:cNvPr id="324" name="Google Shape;324;p41"/>
          <p:cNvSpPr txBox="1"/>
          <p:nvPr/>
        </p:nvSpPr>
        <p:spPr>
          <a:xfrm>
            <a:off x="514350" y="1355421"/>
            <a:ext cx="5330192" cy="28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1" marL="3810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5E2B5B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Integrated a fine-tuned Whisper model for Speech-to-Text.</a:t>
            </a:r>
            <a:endParaRPr sz="700"/>
          </a:p>
          <a:p>
            <a:pPr indent="-190500" lvl="1" marL="3810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5E2B5B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Optimized and trained on the LJSpeech benchmark dataset</a:t>
            </a:r>
            <a:endParaRPr sz="700"/>
          </a:p>
          <a:p>
            <a:pPr indent="-190500" lvl="1" marL="3810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5E2B5B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Processes log-mel spectrogram inputs via advanced Transformer encoder-decoder blocks</a:t>
            </a:r>
            <a:endParaRPr sz="700"/>
          </a:p>
          <a:p>
            <a:pPr indent="-190500" lvl="1" marL="38100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5E2B5B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Transforms speech into precise text outputs instantly with high accuracy</a:t>
            </a:r>
            <a:endParaRPr sz="700"/>
          </a:p>
        </p:txBody>
      </p:sp>
      <p:sp>
        <p:nvSpPr>
          <p:cNvPr id="325" name="Google Shape;325;p41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26" name="Google Shape;326;p41"/>
          <p:cNvSpPr/>
          <p:nvPr/>
        </p:nvSpPr>
        <p:spPr>
          <a:xfrm>
            <a:off x="6237725" y="961790"/>
            <a:ext cx="2160085" cy="3883999"/>
          </a:xfrm>
          <a:custGeom>
            <a:rect b="b" l="l" r="r" t="t"/>
            <a:pathLst>
              <a:path extrusionOk="0" h="7767997" w="4320170">
                <a:moveTo>
                  <a:pt x="0" y="0"/>
                </a:moveTo>
                <a:lnTo>
                  <a:pt x="4320170" y="0"/>
                </a:lnTo>
                <a:lnTo>
                  <a:pt x="4320170" y="7767998"/>
                </a:lnTo>
                <a:lnTo>
                  <a:pt x="0" y="7767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15" r="-1815" t="-14329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 txBox="1"/>
          <p:nvPr/>
        </p:nvSpPr>
        <p:spPr>
          <a:xfrm>
            <a:off x="1013202" y="196691"/>
            <a:ext cx="7269501" cy="56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TTS Model Fine Tune</a:t>
            </a:r>
            <a:endParaRPr sz="700"/>
          </a:p>
        </p:txBody>
      </p:sp>
      <p:sp>
        <p:nvSpPr>
          <p:cNvPr id="332" name="Google Shape;332;p42"/>
          <p:cNvSpPr txBox="1"/>
          <p:nvPr/>
        </p:nvSpPr>
        <p:spPr>
          <a:xfrm>
            <a:off x="514350" y="1278755"/>
            <a:ext cx="5201419" cy="2351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50" lvl="1" marL="41910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0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Fine-tuned FastSpeech2 and HiFi-GAN on the LJSpeech benchmark dataset</a:t>
            </a:r>
            <a:endParaRPr sz="700"/>
          </a:p>
          <a:p>
            <a:pPr indent="-209550" lvl="1" marL="41910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0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Achieved highly stable training with a Loss = 0.354</a:t>
            </a:r>
            <a:endParaRPr sz="700"/>
          </a:p>
          <a:p>
            <a:pPr indent="-209550" lvl="1" marL="41910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0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Optimized validation Accuracy to 96.5%</a:t>
            </a:r>
            <a:endParaRPr sz="700"/>
          </a:p>
          <a:p>
            <a:pPr indent="-209550" lvl="1" marL="41910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00"/>
              <a:buFont typeface="Arial"/>
              <a:buChar char="•"/>
            </a:pPr>
            <a:r>
              <a:rPr b="0" i="0" lang="en" sz="1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Generates exceptionally smooth, high-quality waveform audio</a:t>
            </a:r>
            <a:endParaRPr sz="700"/>
          </a:p>
        </p:txBody>
      </p:sp>
      <p:sp>
        <p:nvSpPr>
          <p:cNvPr id="333" name="Google Shape;333;p42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34" name="Google Shape;334;p42"/>
          <p:cNvSpPr/>
          <p:nvPr/>
        </p:nvSpPr>
        <p:spPr>
          <a:xfrm>
            <a:off x="6303224" y="1141792"/>
            <a:ext cx="1800383" cy="3642260"/>
          </a:xfrm>
          <a:custGeom>
            <a:rect b="b" l="l" r="r" t="t"/>
            <a:pathLst>
              <a:path extrusionOk="0" h="7284519" w="3600765">
                <a:moveTo>
                  <a:pt x="0" y="0"/>
                </a:moveTo>
                <a:lnTo>
                  <a:pt x="3600765" y="0"/>
                </a:lnTo>
                <a:lnTo>
                  <a:pt x="3600765" y="7284519"/>
                </a:lnTo>
                <a:lnTo>
                  <a:pt x="0" y="7284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9" r="-259" t="-35443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/>
        </p:nvSpPr>
        <p:spPr>
          <a:xfrm>
            <a:off x="2554759" y="63485"/>
            <a:ext cx="4533887" cy="109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1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Prompt Engineering Layer</a:t>
            </a:r>
            <a:endParaRPr sz="700"/>
          </a:p>
        </p:txBody>
      </p:sp>
      <p:grpSp>
        <p:nvGrpSpPr>
          <p:cNvPr id="340" name="Google Shape;340;p43"/>
          <p:cNvGrpSpPr/>
          <p:nvPr/>
        </p:nvGrpSpPr>
        <p:grpSpPr>
          <a:xfrm>
            <a:off x="724751" y="952071"/>
            <a:ext cx="3301032" cy="923886"/>
            <a:chOff x="0" y="-85725"/>
            <a:chExt cx="132960058" cy="37212587"/>
          </a:xfrm>
        </p:grpSpPr>
        <p:sp>
          <p:nvSpPr>
            <p:cNvPr id="341" name="Google Shape;341;p43"/>
            <p:cNvSpPr/>
            <p:nvPr/>
          </p:nvSpPr>
          <p:spPr>
            <a:xfrm>
              <a:off x="0" y="0"/>
              <a:ext cx="132960058" cy="37126862"/>
            </a:xfrm>
            <a:custGeom>
              <a:rect b="b" l="l" r="r" t="t"/>
              <a:pathLst>
                <a:path extrusionOk="0" h="37126862" w="132960058">
                  <a:moveTo>
                    <a:pt x="62151" y="0"/>
                  </a:moveTo>
                  <a:lnTo>
                    <a:pt x="132897910" y="0"/>
                  </a:lnTo>
                  <a:cubicBezTo>
                    <a:pt x="132932227" y="0"/>
                    <a:pt x="132960058" y="27826"/>
                    <a:pt x="132960058" y="62151"/>
                  </a:cubicBezTo>
                  <a:lnTo>
                    <a:pt x="132960058" y="37064711"/>
                  </a:lnTo>
                  <a:cubicBezTo>
                    <a:pt x="132960058" y="37099038"/>
                    <a:pt x="132932227" y="37126862"/>
                    <a:pt x="132897910" y="37126862"/>
                  </a:cubicBezTo>
                  <a:lnTo>
                    <a:pt x="62151" y="37126862"/>
                  </a:lnTo>
                  <a:cubicBezTo>
                    <a:pt x="27826" y="37126862"/>
                    <a:pt x="0" y="37099038"/>
                    <a:pt x="0" y="37064711"/>
                  </a:cubicBezTo>
                  <a:lnTo>
                    <a:pt x="0" y="62151"/>
                  </a:lnTo>
                  <a:cubicBezTo>
                    <a:pt x="0" y="27826"/>
                    <a:pt x="27826" y="0"/>
                    <a:pt x="62151" y="0"/>
                  </a:cubicBezTo>
                  <a:close/>
                </a:path>
              </a:pathLst>
            </a:custGeom>
            <a:solidFill>
              <a:srgbClr val="189D9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3"/>
            <p:cNvSpPr txBox="1"/>
            <p:nvPr/>
          </p:nvSpPr>
          <p:spPr>
            <a:xfrm>
              <a:off x="0" y="-85725"/>
              <a:ext cx="132960055" cy="3721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2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Generic Prompting Layer</a:t>
              </a:r>
              <a:endParaRPr sz="700"/>
            </a:p>
          </p:txBody>
        </p:sp>
      </p:grpSp>
      <p:grpSp>
        <p:nvGrpSpPr>
          <p:cNvPr id="343" name="Google Shape;343;p43"/>
          <p:cNvGrpSpPr/>
          <p:nvPr/>
        </p:nvGrpSpPr>
        <p:grpSpPr>
          <a:xfrm>
            <a:off x="5551798" y="952071"/>
            <a:ext cx="3301032" cy="923886"/>
            <a:chOff x="0" y="-85725"/>
            <a:chExt cx="132960058" cy="37212587"/>
          </a:xfrm>
        </p:grpSpPr>
        <p:sp>
          <p:nvSpPr>
            <p:cNvPr id="344" name="Google Shape;344;p43"/>
            <p:cNvSpPr/>
            <p:nvPr/>
          </p:nvSpPr>
          <p:spPr>
            <a:xfrm>
              <a:off x="0" y="0"/>
              <a:ext cx="132960058" cy="37126862"/>
            </a:xfrm>
            <a:custGeom>
              <a:rect b="b" l="l" r="r" t="t"/>
              <a:pathLst>
                <a:path extrusionOk="0" h="37126862" w="132960058">
                  <a:moveTo>
                    <a:pt x="62151" y="0"/>
                  </a:moveTo>
                  <a:lnTo>
                    <a:pt x="132897910" y="0"/>
                  </a:lnTo>
                  <a:cubicBezTo>
                    <a:pt x="132932227" y="0"/>
                    <a:pt x="132960058" y="27826"/>
                    <a:pt x="132960058" y="62151"/>
                  </a:cubicBezTo>
                  <a:lnTo>
                    <a:pt x="132960058" y="37064711"/>
                  </a:lnTo>
                  <a:cubicBezTo>
                    <a:pt x="132960058" y="37099038"/>
                    <a:pt x="132932227" y="37126862"/>
                    <a:pt x="132897910" y="37126862"/>
                  </a:cubicBezTo>
                  <a:lnTo>
                    <a:pt x="62151" y="37126862"/>
                  </a:lnTo>
                  <a:cubicBezTo>
                    <a:pt x="27826" y="37126862"/>
                    <a:pt x="0" y="37099038"/>
                    <a:pt x="0" y="37064711"/>
                  </a:cubicBezTo>
                  <a:lnTo>
                    <a:pt x="0" y="62151"/>
                  </a:lnTo>
                  <a:cubicBezTo>
                    <a:pt x="0" y="27826"/>
                    <a:pt x="27826" y="0"/>
                    <a:pt x="62151" y="0"/>
                  </a:cubicBezTo>
                  <a:close/>
                </a:path>
              </a:pathLst>
            </a:custGeom>
            <a:solidFill>
              <a:srgbClr val="189D9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3"/>
            <p:cNvSpPr txBox="1"/>
            <p:nvPr/>
          </p:nvSpPr>
          <p:spPr>
            <a:xfrm>
              <a:off x="0" y="-85725"/>
              <a:ext cx="132960055" cy="3721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200" u="none" cap="none" strike="noStrike">
                  <a:solidFill>
                    <a:srgbClr val="FCFBF7"/>
                  </a:solidFill>
                  <a:latin typeface="Arial"/>
                  <a:ea typeface="Arial"/>
                  <a:cs typeface="Arial"/>
                  <a:sym typeface="Arial"/>
                </a:rPr>
                <a:t>Role-Play Scenario Prompt</a:t>
              </a:r>
              <a:endParaRPr sz="700"/>
            </a:p>
          </p:txBody>
        </p:sp>
      </p:grpSp>
      <p:sp>
        <p:nvSpPr>
          <p:cNvPr id="346" name="Google Shape;346;p43"/>
          <p:cNvSpPr txBox="1"/>
          <p:nvPr/>
        </p:nvSpPr>
        <p:spPr>
          <a:xfrm>
            <a:off x="75625" y="1831475"/>
            <a:ext cx="4304100" cy="3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Input: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"Explain the difference between 'since' and 'for'."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Prompt: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"Act as an English tutor. Explain the difference between 'since' and 'for' using simple language, provide 3 examples for each, and end with a short practice exercise."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Clear explanation, examples, and practice questions.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/>
          <p:nvPr/>
        </p:nvSpPr>
        <p:spPr>
          <a:xfrm>
            <a:off x="4764286" y="1875957"/>
            <a:ext cx="4304100" cy="3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Ordering food at a restaurant.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Prompt: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"Act as a restaurant waiter. Conduct a realistic conversation with the learner, encourage them to place an order, ask follow-up questions, and provide corrections only after the conversation ends."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dialogue that simulates a real-world conversation.</a:t>
            </a:r>
            <a:endParaRPr sz="7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43"/>
          <p:cNvCxnSpPr/>
          <p:nvPr/>
        </p:nvCxnSpPr>
        <p:spPr>
          <a:xfrm>
            <a:off x="4572000" y="1415077"/>
            <a:ext cx="0" cy="372842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/>
        </p:nvSpPr>
        <p:spPr>
          <a:xfrm>
            <a:off x="4271375" y="129400"/>
            <a:ext cx="17586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1"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44" title="EF017FBE-8F0E-4F7F-9633-62D724F0358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5725" y="764350"/>
            <a:ext cx="4590200" cy="43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4"/>
          <p:cNvSpPr txBox="1"/>
          <p:nvPr/>
        </p:nvSpPr>
        <p:spPr>
          <a:xfrm>
            <a:off x="53700" y="3999025"/>
            <a:ext cx="2075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https://drive.google.com/file/d/1TxLYk-HjUFfssOOs1HusutFENn42E6uc/view?usp=drive_link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/>
        </p:nvSpPr>
        <p:spPr>
          <a:xfrm>
            <a:off x="986703" y="251213"/>
            <a:ext cx="3472637" cy="720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2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sz="700"/>
          </a:p>
        </p:txBody>
      </p:sp>
      <p:sp>
        <p:nvSpPr>
          <p:cNvPr id="361" name="Google Shape;361;p45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  <p:sp>
        <p:nvSpPr>
          <p:cNvPr id="362" name="Google Shape;362;p45"/>
          <p:cNvSpPr txBox="1"/>
          <p:nvPr/>
        </p:nvSpPr>
        <p:spPr>
          <a:xfrm>
            <a:off x="514350" y="1383852"/>
            <a:ext cx="8115300" cy="252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1" marL="469900" marR="0" rtl="0" algn="l">
              <a:lnSpc>
                <a:spcPct val="153012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200"/>
              <a:buFont typeface="Arial"/>
              <a:buAutoNum type="arabicPeriod"/>
            </a:pPr>
            <a:r>
              <a:rPr b="1" i="0" lang="en" sz="22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Increase the app's gamification features to improve user retention.</a:t>
            </a:r>
            <a:endParaRPr sz="700"/>
          </a:p>
          <a:p>
            <a:pPr indent="-228600" lvl="1" marL="469900" marR="0" rtl="0" algn="l">
              <a:lnSpc>
                <a:spcPct val="153012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200"/>
              <a:buFont typeface="Arial"/>
              <a:buAutoNum type="arabicPeriod"/>
            </a:pPr>
            <a:r>
              <a:rPr b="1" i="0" lang="en" sz="22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Reduce voice mode latency.</a:t>
            </a:r>
            <a:endParaRPr sz="700"/>
          </a:p>
          <a:p>
            <a:pPr indent="-228600" lvl="1" marL="469900" marR="0" rtl="0" algn="l">
              <a:lnSpc>
                <a:spcPct val="153012"/>
              </a:lnSpc>
              <a:spcBef>
                <a:spcPts val="0"/>
              </a:spcBef>
              <a:spcAft>
                <a:spcPts val="0"/>
              </a:spcAft>
              <a:buClr>
                <a:srgbClr val="072C41"/>
              </a:buClr>
              <a:buSzPts val="2200"/>
              <a:buFont typeface="Arial"/>
              <a:buAutoNum type="arabicPeriod"/>
            </a:pPr>
            <a:r>
              <a:rPr b="1" i="0" lang="en" sz="22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Support preparation for language proficiency tests such as IELTS.</a:t>
            </a:r>
            <a:endParaRPr sz="700"/>
          </a:p>
          <a:p>
            <a:pPr indent="0" lvl="0" marL="0" marR="0" rtl="0" algn="l">
              <a:lnSpc>
                <a:spcPct val="15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072C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/>
        </p:nvSpPr>
        <p:spPr>
          <a:xfrm>
            <a:off x="1078122" y="216400"/>
            <a:ext cx="4270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300" u="none" cap="none" strike="noStrike">
                <a:solidFill>
                  <a:srgbClr val="5E2B5B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700"/>
          </a:p>
        </p:txBody>
      </p:sp>
      <p:sp>
        <p:nvSpPr>
          <p:cNvPr id="368" name="Google Shape;368;p46"/>
          <p:cNvSpPr txBox="1"/>
          <p:nvPr/>
        </p:nvSpPr>
        <p:spPr>
          <a:xfrm>
            <a:off x="514350" y="1069296"/>
            <a:ext cx="8115300" cy="94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“Learning is most powerful when it adapts to the learner, not when the learner is forced to adapt to the system”</a:t>
            </a:r>
            <a:endParaRPr sz="700"/>
          </a:p>
        </p:txBody>
      </p:sp>
      <p:sp>
        <p:nvSpPr>
          <p:cNvPr id="369" name="Google Shape;369;p46"/>
          <p:cNvSpPr txBox="1"/>
          <p:nvPr/>
        </p:nvSpPr>
        <p:spPr>
          <a:xfrm>
            <a:off x="514350" y="2702975"/>
            <a:ext cx="8115300" cy="18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In conclusion, this project presents an AI-driven application that employs adaptive learning algorithms to analyze user performance, determine proficiency levels, and continuously personalize the learning flow to optimize learning outcomes.</a:t>
            </a:r>
            <a:endParaRPr sz="700"/>
          </a:p>
        </p:txBody>
      </p:sp>
      <p:sp>
        <p:nvSpPr>
          <p:cNvPr id="370" name="Google Shape;370;p46"/>
          <p:cNvSpPr/>
          <p:nvPr/>
        </p:nvSpPr>
        <p:spPr>
          <a:xfrm>
            <a:off x="7927213" y="150124"/>
            <a:ext cx="941196" cy="499552"/>
          </a:xfrm>
          <a:custGeom>
            <a:rect b="b" l="l" r="r" t="t"/>
            <a:pathLst>
              <a:path extrusionOk="0" h="999103" w="1882391">
                <a:moveTo>
                  <a:pt x="0" y="0"/>
                </a:moveTo>
                <a:lnTo>
                  <a:pt x="1882390" y="0"/>
                </a:lnTo>
                <a:lnTo>
                  <a:pt x="1882390" y="999103"/>
                </a:lnTo>
                <a:lnTo>
                  <a:pt x="0" y="999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/>
        </p:nvSpPr>
        <p:spPr>
          <a:xfrm>
            <a:off x="2306918" y="2844415"/>
            <a:ext cx="4530164" cy="121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0" u="none" cap="none" strike="noStrike">
                <a:solidFill>
                  <a:srgbClr val="072C4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700"/>
          </a:p>
        </p:txBody>
      </p:sp>
      <p:sp>
        <p:nvSpPr>
          <p:cNvPr id="376" name="Google Shape;376;p47"/>
          <p:cNvSpPr/>
          <p:nvPr/>
        </p:nvSpPr>
        <p:spPr>
          <a:xfrm>
            <a:off x="2595742" y="720536"/>
            <a:ext cx="3952517" cy="2097850"/>
          </a:xfrm>
          <a:custGeom>
            <a:rect b="b" l="l" r="r" t="t"/>
            <a:pathLst>
              <a:path extrusionOk="0" h="4195700" w="7905034">
                <a:moveTo>
                  <a:pt x="0" y="0"/>
                </a:moveTo>
                <a:lnTo>
                  <a:pt x="7905034" y="0"/>
                </a:lnTo>
                <a:lnTo>
                  <a:pt x="7905034" y="4195699"/>
                </a:lnTo>
                <a:lnTo>
                  <a:pt x="0" y="41956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467" l="-28643" r="-27278" t="-4625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